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is an offline AI agent that tests car infotainment screens. You give it a goal, it figures out the taps itself by looking at the screen, and verifies the result. Everything runs locally.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have the hardest UI to automate and the strongest reason not to use cloud AI. That intersection is the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differentiator: it never memorizes a route. Verification is independent of the planner, which is what makes results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AndroidWorld bridge reuses the exact same planner/grounder/verifier — only the I/O is translated. That's how we get a comparable benchmark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crux for a technical audience: how does a language model produce a tap coordinate. Two modes, chosen by config; point mode for grounding-capable VLMs, grid as the universal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onboarding a new OEM IVI is a documentation task, not an ML task. The manual's icon meanings/synonyms directly drive proprietary-control recognition.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money slide. Both goals pass on a custom, brand-styled IVI with no accessibility tree and proprietary icons. Mention the WebView detail: browsers drop synthetic taps, so we wrap the mock in a tiny native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 the caveats — they make the number credible. The slider failures are a benchmark-API limitation, not an agent limitation: on a real device we issue a real adb swipe.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earns engineering credibility: the unglamorous fixes that separate a one-off demo from something you can run unattended.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limitations before they're asked. The actuator caveat is important: visual confirmation is necessary but not sufficient for real vehicle QA.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one-liner and your specific ask: pick a real head-unit flow to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097280"/>
            <a:ext cx="5943600" cy="5943600"/>
          </a:xfrm>
          <a:prstGeom prst="roundRect">
            <a:avLst>
              <a:gd name="adj" fmla="val 3077"/>
            </a:avLst>
          </a:prstGeom>
          <a:solidFill>
            <a:srgbClr val="18212E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1005840"/>
            <a:ext cx="5943600" cy="5943600"/>
          </a:xfrm>
          <a:prstGeom prst="roundRect">
            <a:avLst>
              <a:gd name="adj" fmla="val 3077"/>
            </a:avLst>
          </a:prstGeom>
          <a:solidFill>
            <a:srgbClr val="202B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GOAL-DRIVEN · VISION-BASED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IVI Visual Agent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car infotainment from a goal — not a script.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offline agent that observes an Android IVI screen, decides one grounded action, executes it over ADB, and independently verifies the outcome. No recorded routes, no fixed coordinates, no cloud.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qwen3-vl:8b  </a:t>
            </a:r>
            <a:pPr indent="0" marL="0">
              <a:buNone/>
            </a:pPr>
            <a:r>
              <a:rPr lang="en-US" sz="1300" dirty="0">
                <a:solidFill>
                  <a:srgbClr val="93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fully local · Android / AAOS / custom OEM IVI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IVI QA is the hardest UI to automate — under the tightest privacy constraint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474720" cy="3566160"/>
          </a:xfrm>
          <a:prstGeom prst="roundRect">
            <a:avLst>
              <a:gd name="adj" fmla="val 2368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423160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743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&amp; brittle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47472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IVI test today is humans tapping through climate, seat, and nav screens by hand. Slow, unrepeatable, expensive at scale.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0" y="2057400"/>
            <a:ext cx="3474720" cy="3566160"/>
          </a:xfrm>
          <a:prstGeom prst="roundRect">
            <a:avLst>
              <a:gd name="adj" fmla="val 2368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2423160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2743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Scripts don't survive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347472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Record-and-replay pins fixed coordinates or element IDs. OEM screens are often Unity/pixel-rendered with no accessibility tree — scripts break on any layout shift.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321040" y="2057400"/>
            <a:ext cx="3474720" cy="3566160"/>
          </a:xfrm>
          <a:prstGeom prst="roundRect">
            <a:avLst>
              <a:gd name="adj" fmla="val 2368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41080" y="2423160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743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Can't go to the cloud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347472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of an unreleased head unit can't be shipped to a hosted VLM API. IP and confidentiality rule out the obvious cloud-agent shortcut.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possible UI  ×  strongest privacy constraint  =  the gap we fill.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closed observe → plan → act → verify loop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decided from what is on screen right now. No menu path is ever memorized — so it survives layout changes.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80720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84378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65760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+ accessibility tree (when present) + OCR of the live screen.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374136" y="34290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685032" y="251460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59352" y="280720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959352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284378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959352" y="365760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VLM proposes ONE next action toward the goal, given a retrieved manual hint.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34290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547104" y="251460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21424" y="280720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21424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61504" y="284378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&amp; act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821424" y="365760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control on this screen (coords or candidate), tap / swipe via ADB.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34290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9409176" y="251460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83496" y="280720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83496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323576" y="284378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683496" y="365760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confirm the goal — not trust the planner's claim; loop if not done.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22960" y="5715000"/>
            <a:ext cx="10561320" cy="658368"/>
          </a:xfrm>
          <a:prstGeom prst="roundRect">
            <a:avLst>
              <a:gd name="adj" fmla="val 11111"/>
            </a:avLst>
          </a:prstGeom>
          <a:solidFill>
            <a:srgbClr val="202B3A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1560" y="574243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Loop-back:  </a:t>
            </a:r>
            <a:pPr indent="0" marL="0">
              <a:buNone/>
            </a:pPr>
            <a:r>
              <a:rPr lang="en-US" sz="13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verify fails, the failed action is remembered and re-planning avoids the dead move — with an overall-goal recheck so it stops the moment the goal is actually met.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— a thin, swappable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4028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17320" y="21671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GoalAgent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624328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loop: plan → subgoals → grounded action → verify, with loop/dead-action memory.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96596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224028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66360" y="21671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OllamaVisionModel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2624328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+ grounder + verifier over a local VLM via Ollama HTTP. num_ctx / keep-alive tuned.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196596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95360" y="224028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15400" y="21671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Perception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613648" y="2624328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uiautomator XML parse, OCR, perceptual hash, numbered visual grid for pixel-only surfaces.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397764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97280" y="42519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417320" y="4178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AdbDevice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4636008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Screencap, taps, swipes, text; live-orientation screen sizing; app launch by package.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397764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42519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166360" y="4178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 (RAG)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64608" y="4636008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manual → semantic text + icon embeddings; retrieves the step &amp; icon for the goal.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21040" y="397764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95360" y="42519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915400" y="4178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AndroidWorld bridge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613648" y="4636008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brain, scored on Google's benchmark: State→PNG, UI forest→XML, Action→JSONAction.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device, and knowledge source are all pluggable — the same loop runs on an emulator, a phone, or a real head unit.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 — GROUNDING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“tap A/C” into an actual pixel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166360" cy="3749040"/>
          </a:xfrm>
          <a:prstGeom prst="roundRect">
            <a:avLst>
              <a:gd name="adj" fmla="val 2195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1945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there's an accessibility tree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743200"/>
            <a:ext cx="4526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named target to a labelled node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node's bounds — exact, no guessing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 tap on a scrollable container into a scroll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stock Android / AAOS settings apps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965960"/>
            <a:ext cx="5166360" cy="3749040"/>
          </a:xfrm>
          <a:prstGeom prst="roundRect">
            <a:avLst>
              <a:gd name="adj" fmla="val 2195"/>
            </a:avLst>
          </a:prstGeom>
          <a:solidFill>
            <a:srgbClr val="202B3A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21945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it's pixels only (custom OEM / Unity)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743200"/>
            <a:ext cx="4526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8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mode: ask a grounding-capable VLM for normalized (x,y), with 0–1000/pixel rescale defense</a:t>
            </a:r>
            <a:endParaRPr lang="en-US" sz="1450" dirty="0"/>
          </a:p>
          <a:p>
            <a:pPr marL="342900" indent="-342900">
              <a:lnSpc>
                <a:spcPct val="128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mode: overlay a numbered grid; model names a cell (model-agnostic fallback)</a:t>
            </a:r>
            <a:endParaRPr lang="en-US" sz="1450" dirty="0"/>
          </a:p>
          <a:p>
            <a:pPr marL="342900" indent="-342900">
              <a:lnSpc>
                <a:spcPct val="128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Manual-retrieved icon crops sharpen recognition of proprietary controls</a:t>
            </a:r>
            <a:endParaRPr lang="en-US" sz="1450" dirty="0"/>
          </a:p>
          <a:p>
            <a:pPr marL="342900" indent="-342900">
              <a:lnSpc>
                <a:spcPct val="128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stored coordinates — located fresh on every screen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planner, two grounding strategies chosen by config — degrade gracefully from structured to purely visual.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WITHOUT TRAINING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owner's manual is the training data — at runtime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78992" y="2267712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OEM manual (PDF)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297180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page images + icon crops with meanings/synonyms.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3410712" y="278892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85032" y="201168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941064" y="2267712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once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3941064" y="297180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Per-chunk semantic text embeddings + optional CLIP icon-image vectors.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272784" y="278892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547104" y="201168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03136" y="2267712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for goal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03136" y="297180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cosine similarity with keyword score — “wireless internet” → Wi-Fi icon.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9134856" y="278892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409176" y="201168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65208" y="2267712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 the model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9665208" y="297180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active step + relevant icon crop, alongside the live screenshot.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4709160"/>
            <a:ext cx="10561320" cy="1600200"/>
          </a:xfrm>
          <a:prstGeom prst="roundRect">
            <a:avLst>
              <a:gd name="adj" fmla="val 4571"/>
            </a:avLst>
          </a:prstGeom>
          <a:solidFill>
            <a:srgbClr val="202B3A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5257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fine-tuning, no fixed coordinates.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vehicle = a new manual, not a new model. Embeddings run locally over Ollama (urllib only, no cloud); CLIP is an optional extra and degrades to keyword when absent.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WORKS, END TO END — FULLY LOCAL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IVI: two goals, zero fixed coordinates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8096" y="2002536"/>
            <a:ext cx="3630168" cy="2089976"/>
          </a:xfrm>
          <a:prstGeom prst="roundRect">
            <a:avLst>
              <a:gd name="adj" fmla="val 2625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</p:spPr>
      </p:sp>
      <p:pic>
        <p:nvPicPr>
          <p:cNvPr id="5" name="Image 0" descr="/home/user/ivi-visual-agent/docs/screenshots/ivi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3520440" cy="19802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41748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54056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screen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44568" y="2002536"/>
            <a:ext cx="3630168" cy="2089976"/>
          </a:xfrm>
          <a:prstGeom prst="roundRect">
            <a:avLst>
              <a:gd name="adj" fmla="val 2625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</p:spPr>
      </p:sp>
      <p:pic>
        <p:nvPicPr>
          <p:cNvPr id="9" name="Image 1" descr="/home/user/ivi-visual-agent/docs/screenshots/ivi-clim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057400"/>
            <a:ext cx="3520440" cy="19802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99432" y="41748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4599432" y="454056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“Open the climate screen” ✓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321040" y="2002536"/>
            <a:ext cx="3630168" cy="2089976"/>
          </a:xfrm>
          <a:prstGeom prst="roundRect">
            <a:avLst>
              <a:gd name="adj" fmla="val 2625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</p:spPr>
      </p:sp>
      <p:pic>
        <p:nvPicPr>
          <p:cNvPr id="13" name="Image 2" descr="/home/user/ivi-visual-agent/docs/screenshots/ivi-seat-mass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2057400"/>
            <a:ext cx="3520440" cy="19802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75904" y="41748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Seat massage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8375904" y="454056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“Start the seat massage” ✓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822960" y="6126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qwen3-vl:8b  ·  guided only by the PDF-derived knowledge profile  ·  </a:t>
            </a:r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 WebView app</a:t>
            </a:r>
            <a:pPr algn="ctr" indent="0" marL="0">
              <a:buNone/>
            </a:pPr>
            <a:r>
              <a:rPr lang="en-US" sz="1250" dirty="0">
                <a:solidFill>
                  <a:srgbClr val="93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(Chrome drops synthetic ADB taps on web content)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IT'S NOT A TOY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AndroidWorld — a small local model in the cloud-SOTA band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852160" cy="3794760"/>
          </a:xfrm>
          <a:prstGeom prst="roundRect">
            <a:avLst>
              <a:gd name="adj" fmla="val 2169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2128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Built-in-app subset · Android arm64 · offline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697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SystemWifiTurnOn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269748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43000" y="3172968"/>
            <a:ext cx="5212080" cy="0"/>
          </a:xfrm>
          <a:prstGeom prst="line">
            <a:avLst/>
          </a:prstGeom>
          <a:noFill/>
          <a:ln w="12700">
            <a:solidFill>
              <a:srgbClr val="2A36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17296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SystemWifiTurnOff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317296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43000" y="3648456"/>
            <a:ext cx="5212080" cy="0"/>
          </a:xfrm>
          <a:prstGeom prst="line">
            <a:avLst/>
          </a:prstGeom>
          <a:noFill/>
          <a:ln w="12700">
            <a:solidFill>
              <a:srgbClr val="2A36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364845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ContactsAddContact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364845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43000" y="4123944"/>
            <a:ext cx="5212080" cy="0"/>
          </a:xfrm>
          <a:prstGeom prst="line">
            <a:avLst/>
          </a:prstGeom>
          <a:noFill/>
          <a:ln w="12700">
            <a:solidFill>
              <a:srgbClr val="2A36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43000" y="412394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ClockStopWatchRunning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412394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43000" y="4599432"/>
            <a:ext cx="5212080" cy="0"/>
          </a:xfrm>
          <a:prstGeom prst="line">
            <a:avLst/>
          </a:prstGeom>
          <a:noFill/>
          <a:ln w="12700">
            <a:solidFill>
              <a:srgbClr val="2A36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459943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SystemBrightnessMax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459943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FAIL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43000" y="5074920"/>
            <a:ext cx="5212080" cy="0"/>
          </a:xfrm>
          <a:prstGeom prst="line">
            <a:avLst/>
          </a:prstGeom>
          <a:noFill/>
          <a:ln w="12700">
            <a:solidFill>
              <a:srgbClr val="2A36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507492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SystemBrightnessMin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50749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FAIL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95160" y="2011680"/>
            <a:ext cx="4389120" cy="1783080"/>
          </a:xfrm>
          <a:prstGeom prst="roundRect">
            <a:avLst>
              <a:gd name="adj" fmla="val 4615"/>
            </a:avLst>
          </a:prstGeom>
          <a:solidFill>
            <a:srgbClr val="202B3A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995160" y="2194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6</a:t>
            </a:r>
            <a:endParaRPr lang="en-US" sz="60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3200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on this subset — fully offline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95160" y="4023360"/>
            <a:ext cx="4389120" cy="1783080"/>
          </a:xfrm>
          <a:prstGeom prst="roundRect">
            <a:avLst>
              <a:gd name="adj" fmla="val 4615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995160" y="41605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3A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~50–60%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7269480" y="48463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VLM agents (GPT-4o / Gemini class) on the full 116-task suite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9893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caveats: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(not the full 116); the full suite needs an x86_64/KVM host; the two FAILs are the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 — AndroidWorld's JSONAction has no precise drag. On a real device our agent does drag sliders.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→ UNATTENDED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bugs fixed getting it onto a physical-style surface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474720" cy="3794760"/>
          </a:xfrm>
          <a:prstGeom prst="roundRect">
            <a:avLst>
              <a:gd name="adj" fmla="val 2368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15568" y="2240280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Landscape tap transposition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310896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3337560"/>
            <a:ext cx="2889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 size reports physical portrait (1080×2400) while the live landscape framebuffer is 2400×1080 — normalized taps landed transposed and missed.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457200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4800600"/>
            <a:ext cx="2889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screen_size() reads the current screenshot's PNG header for true orientation; falls back to wm size.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1965960"/>
            <a:ext cx="3474720" cy="3794760"/>
          </a:xfrm>
          <a:prstGeom prst="roundRect">
            <a:avLst>
              <a:gd name="adj" fmla="val 2368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64608" y="2240280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read as “no progress”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310896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3337560"/>
            <a:ext cx="2889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state change with a tiny pixel delta (Start→Stop + “Massage running…”) looked static to a perceptual hash, so it looped.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864608" y="457200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4800600"/>
            <a:ext cx="2889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screen_made_progress() also diffs visible UI text, not just pixels.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21040" y="1965960"/>
            <a:ext cx="3474720" cy="3794760"/>
          </a:xfrm>
          <a:prstGeom prst="roundRect">
            <a:avLst>
              <a:gd name="adj" fmla="val 2368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13648" y="2240280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Re-tapping a satisfied goal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613648" y="310896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613648" y="3337560"/>
            <a:ext cx="2889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fine-grained subgoal tracker lagged after the overall goal was already met — the agent kept acting.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613648" y="457200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613648" y="4800600"/>
            <a:ext cx="2889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Recheck the overall goal before re-planning; finish the moment it verifies.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60807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core-loop hardening, not demo hacks — they help on any rotated or custom surface. 119 tests cover the behavior.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TRADE-OFFS, STATED PLAINLY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local — and where the edges 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166360" cy="3749040"/>
          </a:xfrm>
          <a:prstGeom prst="roundRect">
            <a:avLst>
              <a:gd name="adj" fmla="val 2195"/>
            </a:avLst>
          </a:prstGeom>
          <a:solidFill>
            <a:srgbClr val="18212E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1945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local wins here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743200"/>
            <a:ext cx="4526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/ IP — unreleased head-unit screens never leave the bench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— no per-call API bill across thousands of runs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— works in a lab or vehicle with no connectivity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— pinned local model, deterministic harness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965960"/>
            <a:ext cx="5166360" cy="3749040"/>
          </a:xfrm>
          <a:prstGeom prst="roundRect">
            <a:avLst>
              <a:gd name="adj" fmla="val 2195"/>
            </a:avLst>
          </a:prstGeom>
          <a:solidFill>
            <a:srgbClr val="202B3A"/>
          </a:solidFill>
          <a:ln w="12700">
            <a:solidFill>
              <a:srgbClr val="2A36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21945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limitations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743200"/>
            <a:ext cx="4526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Icon-only controls still depend on the local VLM's recognition</a:t>
            </a:r>
            <a:endParaRPr lang="en-US" sz="145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verification proves the displayed UI, not the actuator — assert VHAL / CAN for real QA</a:t>
            </a:r>
            <a:endParaRPr lang="en-US" sz="145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model can pick a poor strategy; guards stop it safely but can't solve everything</a:t>
            </a:r>
            <a:endParaRPr lang="en-US" sz="145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Bench-test only — never a moving or production vehicle without safety review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280160"/>
            <a:ext cx="6217920" cy="6217920"/>
          </a:xfrm>
          <a:prstGeom prst="roundRect">
            <a:avLst>
              <a:gd name="adj" fmla="val 2941"/>
            </a:avLst>
          </a:prstGeom>
          <a:solidFill>
            <a:srgbClr val="18212E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1280160"/>
            <a:ext cx="6217920" cy="6217920"/>
          </a:xfrm>
          <a:prstGeom prst="roundRect">
            <a:avLst>
              <a:gd name="adj" fmla="val 2941"/>
            </a:avLst>
          </a:prstGeom>
          <a:solidFill>
            <a:srgbClr val="202B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NEXT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3716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documentation-driven, offline IVI tester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116-task AndroidWorld run on x86_64 / KVM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OEM manual + icon crops in place of the scaffold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vehicle signal (VHAL / CAN) as ground truth alongside vision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a real head unit — pick a target 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577840"/>
            <a:ext cx="6675120" cy="0"/>
          </a:xfrm>
          <a:prstGeom prst="line">
            <a:avLst/>
          </a:prstGeom>
          <a:noFill/>
          <a:ln w="12700">
            <a:solidFill>
              <a:srgbClr val="2A36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760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9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it the goal. It reads the screen, reads the manual, and does the rest — </a:t>
            </a:r>
            <a:pPr indent="0" marL="0">
              <a:lnSpc>
                <a:spcPct val="115000"/>
              </a:lnSpc>
              <a:buNone/>
            </a:pPr>
            <a:r>
              <a:rPr lang="en-US" sz="15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2026-09-16T08:22:15Z</dcterms:created>
  <dcterms:modified xsi:type="dcterms:W3CDTF">2026-09-16T08:22:15Z</dcterms:modified>
</cp:coreProperties>
</file>